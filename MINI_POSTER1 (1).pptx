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91" y="374"/>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ECCBEF5-7CCD-4782-96A3-723060E58095}" type="datetimeFigureOut">
              <a:rPr lang="en-IN" smtClean="0"/>
              <a:t>06-06-2025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F9AF915-8C5C-4948-A538-17C4681056A9}" type="slidenum">
              <a:rPr lang="en-IN" smtClean="0"/>
              <a:t>‹#›</a:t>
            </a:fld>
            <a:endParaRPr lang="en-IN"/>
          </a:p>
        </p:txBody>
      </p:sp>
    </p:spTree>
    <p:extLst>
      <p:ext uri="{BB962C8B-B14F-4D97-AF65-F5344CB8AC3E}">
        <p14:creationId xmlns:p14="http://schemas.microsoft.com/office/powerpoint/2010/main" val="3592209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F9AF915-8C5C-4948-A538-17C4681056A9}" type="slidenum">
              <a:rPr lang="en-IN" smtClean="0"/>
              <a:t>1</a:t>
            </a:fld>
            <a:endParaRPr lang="en-IN"/>
          </a:p>
        </p:txBody>
      </p:sp>
    </p:spTree>
    <p:extLst>
      <p:ext uri="{BB962C8B-B14F-4D97-AF65-F5344CB8AC3E}">
        <p14:creationId xmlns:p14="http://schemas.microsoft.com/office/powerpoint/2010/main" val="1345057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716" y="6251446"/>
            <a:ext cx="12178665" cy="585470"/>
          </a:xfrm>
          <a:custGeom>
            <a:avLst/>
            <a:gdLst/>
            <a:ahLst/>
            <a:cxnLst/>
            <a:rect l="l" t="t" r="r" b="b"/>
            <a:pathLst>
              <a:path w="12178665" h="585470">
                <a:moveTo>
                  <a:pt x="0" y="585216"/>
                </a:moveTo>
                <a:lnTo>
                  <a:pt x="12178283" y="585216"/>
                </a:lnTo>
                <a:lnTo>
                  <a:pt x="12178284" y="0"/>
                </a:lnTo>
                <a:lnTo>
                  <a:pt x="0" y="0"/>
                </a:lnTo>
                <a:lnTo>
                  <a:pt x="0" y="585216"/>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609600" y="274320"/>
            <a:ext cx="10972800" cy="10972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6/6/2025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691" y="6289119"/>
            <a:ext cx="12101920" cy="513026"/>
          </a:xfrm>
          <a:prstGeom prst="rect">
            <a:avLst/>
          </a:prstGeom>
        </p:spPr>
        <p:txBody>
          <a:bodyPr vert="horz" wrap="square" lIns="0" tIns="10795" rIns="0" bIns="0" rtlCol="0">
            <a:spAutoFit/>
          </a:bodyPr>
          <a:lstStyle/>
          <a:p>
            <a:pPr marL="12700" marR="5080" indent="190500" algn="ctr">
              <a:lnSpc>
                <a:spcPct val="100600"/>
              </a:lnSpc>
              <a:spcBef>
                <a:spcPts val="85"/>
              </a:spcBef>
              <a:tabLst>
                <a:tab pos="3510279" algn="l"/>
              </a:tabLst>
            </a:pPr>
            <a:r>
              <a:rPr lang="en-IN" sz="1600" b="1" dirty="0">
                <a:solidFill>
                  <a:srgbClr val="FFFFFF"/>
                </a:solidFill>
                <a:latin typeface="Calibri"/>
                <a:cs typeface="Calibri"/>
              </a:rPr>
              <a:t>                      </a:t>
            </a:r>
            <a:r>
              <a:rPr lang="en-US" sz="1600" b="1" dirty="0">
                <a:solidFill>
                  <a:srgbClr val="FFFFFF"/>
                </a:solidFill>
                <a:latin typeface="Calibri"/>
                <a:cs typeface="Calibri"/>
              </a:rPr>
              <a:t>Inventors</a:t>
            </a:r>
            <a:r>
              <a:rPr sz="1600" b="1" dirty="0">
                <a:solidFill>
                  <a:srgbClr val="FFFFFF"/>
                </a:solidFill>
                <a:latin typeface="Calibri"/>
                <a:cs typeface="Calibri"/>
              </a:rPr>
              <a:t>:</a:t>
            </a:r>
            <a:r>
              <a:rPr sz="1600" b="1" spc="-40" dirty="0">
                <a:solidFill>
                  <a:srgbClr val="FFFFFF"/>
                </a:solidFill>
                <a:latin typeface="Calibri"/>
                <a:cs typeface="Calibri"/>
              </a:rPr>
              <a:t> </a:t>
            </a:r>
            <a:r>
              <a:rPr lang="en-US" sz="1600" b="1" spc="-40" dirty="0">
                <a:solidFill>
                  <a:srgbClr val="FFFFFF"/>
                </a:solidFill>
                <a:latin typeface="Calibri"/>
                <a:cs typeface="Calibri"/>
              </a:rPr>
              <a:t>Ms. </a:t>
            </a:r>
            <a:r>
              <a:rPr lang="en-IN" sz="1600" b="1" spc="-40" dirty="0">
                <a:solidFill>
                  <a:srgbClr val="FFFFFF"/>
                </a:solidFill>
                <a:latin typeface="Calibri"/>
                <a:cs typeface="Calibri"/>
              </a:rPr>
              <a:t>Y Sai Ruthvika</a:t>
            </a:r>
            <a:r>
              <a:rPr lang="en-IN" sz="1600" b="1" spc="-30" dirty="0">
                <a:solidFill>
                  <a:srgbClr val="FFFFFF"/>
                </a:solidFill>
                <a:latin typeface="Calibri"/>
                <a:cs typeface="Calibri"/>
              </a:rPr>
              <a:t> |Ms. </a:t>
            </a:r>
            <a:r>
              <a:rPr lang="en-IN" sz="1600" b="1" spc="-30">
                <a:solidFill>
                  <a:srgbClr val="FFFFFF"/>
                </a:solidFill>
                <a:latin typeface="Calibri"/>
                <a:cs typeface="Calibri"/>
              </a:rPr>
              <a:t>K Srinithya</a:t>
            </a:r>
            <a:r>
              <a:rPr lang="en-IN" sz="1600" b="1">
                <a:solidFill>
                  <a:srgbClr val="FFFFFF"/>
                </a:solidFill>
                <a:latin typeface="Calibri"/>
                <a:cs typeface="Calibri"/>
              </a:rPr>
              <a:t> </a:t>
            </a:r>
            <a:r>
              <a:rPr lang="en-IN" sz="1600" b="1" dirty="0">
                <a:solidFill>
                  <a:srgbClr val="FFFFFF"/>
                </a:solidFill>
                <a:latin typeface="Calibri"/>
                <a:cs typeface="Calibri"/>
              </a:rPr>
              <a:t>|Ms.</a:t>
            </a:r>
            <a:r>
              <a:rPr sz="1600" b="1" dirty="0">
                <a:solidFill>
                  <a:srgbClr val="FFFFFF"/>
                </a:solidFill>
                <a:latin typeface="Calibri"/>
                <a:cs typeface="Calibri"/>
              </a:rPr>
              <a:t> </a:t>
            </a:r>
            <a:r>
              <a:rPr lang="en-IN" sz="1600" b="1" dirty="0">
                <a:solidFill>
                  <a:srgbClr val="FFFFFF"/>
                </a:solidFill>
                <a:latin typeface="Calibri"/>
                <a:cs typeface="Calibri"/>
              </a:rPr>
              <a:t>B </a:t>
            </a:r>
            <a:r>
              <a:rPr lang="en-IN" sz="1600" b="1" dirty="0" err="1">
                <a:solidFill>
                  <a:srgbClr val="FFFFFF"/>
                </a:solidFill>
                <a:latin typeface="Calibri"/>
                <a:cs typeface="Calibri"/>
              </a:rPr>
              <a:t>Leelavanitha</a:t>
            </a:r>
            <a:r>
              <a:rPr sz="1600" b="1" dirty="0">
                <a:solidFill>
                  <a:srgbClr val="FFFFFF"/>
                </a:solidFill>
                <a:latin typeface="Calibri"/>
                <a:cs typeface="Calibri"/>
              </a:rPr>
              <a:t>|</a:t>
            </a:r>
            <a:r>
              <a:rPr lang="en-US" sz="1600" b="1" dirty="0">
                <a:solidFill>
                  <a:srgbClr val="FFFFFF"/>
                </a:solidFill>
                <a:latin typeface="Calibri"/>
                <a:cs typeface="Calibri"/>
              </a:rPr>
              <a:t>Ms.</a:t>
            </a:r>
            <a:r>
              <a:rPr sz="1600" b="1" spc="-25" dirty="0">
                <a:solidFill>
                  <a:srgbClr val="FFFFFF"/>
                </a:solidFill>
                <a:latin typeface="Calibri"/>
                <a:cs typeface="Calibri"/>
              </a:rPr>
              <a:t> </a:t>
            </a:r>
            <a:r>
              <a:rPr lang="en-IN" sz="1600" b="1" spc="-25" dirty="0">
                <a:solidFill>
                  <a:srgbClr val="FFFFFF"/>
                </a:solidFill>
                <a:latin typeface="Calibri"/>
                <a:cs typeface="Calibri"/>
              </a:rPr>
              <a:t>C Akhila</a:t>
            </a:r>
            <a:r>
              <a:rPr sz="1600" b="1" spc="-20" dirty="0">
                <a:solidFill>
                  <a:srgbClr val="FFFFFF"/>
                </a:solidFill>
                <a:latin typeface="Calibri"/>
                <a:cs typeface="Calibri"/>
              </a:rPr>
              <a:t> </a:t>
            </a:r>
            <a:endParaRPr lang="en-US" sz="1600" b="1" spc="-20" dirty="0">
              <a:solidFill>
                <a:srgbClr val="FFFFFF"/>
              </a:solidFill>
              <a:latin typeface="Calibri"/>
              <a:cs typeface="Calibri"/>
            </a:endParaRPr>
          </a:p>
          <a:p>
            <a:pPr marL="12700" marR="5080" indent="190500" algn="ctr">
              <a:lnSpc>
                <a:spcPct val="100600"/>
              </a:lnSpc>
              <a:spcBef>
                <a:spcPts val="85"/>
              </a:spcBef>
              <a:tabLst>
                <a:tab pos="3510279" algn="l"/>
              </a:tabLst>
            </a:pPr>
            <a:r>
              <a:rPr lang="en-US" sz="1600" b="1" spc="-20" dirty="0">
                <a:solidFill>
                  <a:srgbClr val="FFFFFF"/>
                </a:solidFill>
                <a:latin typeface="Calibri"/>
                <a:cs typeface="Calibri"/>
              </a:rPr>
              <a:t>                     Faculty </a:t>
            </a:r>
            <a:r>
              <a:rPr lang="en-US" sz="1600" b="1" dirty="0">
                <a:solidFill>
                  <a:srgbClr val="FFFFFF"/>
                </a:solidFill>
                <a:latin typeface="Calibri"/>
                <a:cs typeface="Calibri"/>
              </a:rPr>
              <a:t>Mentor</a:t>
            </a:r>
            <a:r>
              <a:rPr lang="en-US" sz="1600" b="1" spc="-15" dirty="0">
                <a:solidFill>
                  <a:srgbClr val="FFFFFF"/>
                </a:solidFill>
                <a:latin typeface="Calibri"/>
                <a:cs typeface="Calibri"/>
              </a:rPr>
              <a:t> </a:t>
            </a:r>
            <a:r>
              <a:rPr lang="en-US" sz="1600" b="1" dirty="0">
                <a:solidFill>
                  <a:srgbClr val="FFFFFF"/>
                </a:solidFill>
                <a:latin typeface="Calibri"/>
                <a:cs typeface="Calibri"/>
              </a:rPr>
              <a:t>:</a:t>
            </a:r>
            <a:r>
              <a:rPr lang="en-US" sz="1600" b="1" spc="-35" dirty="0">
                <a:solidFill>
                  <a:srgbClr val="FFFFFF"/>
                </a:solidFill>
                <a:latin typeface="Calibri"/>
                <a:cs typeface="Calibri"/>
              </a:rPr>
              <a:t> </a:t>
            </a:r>
            <a:r>
              <a:rPr lang="en-US" sz="1600" b="1" spc="-10" dirty="0">
                <a:solidFill>
                  <a:srgbClr val="FFFFFF"/>
                </a:solidFill>
                <a:latin typeface="Calibri"/>
                <a:cs typeface="Calibri"/>
              </a:rPr>
              <a:t>Dr. </a:t>
            </a:r>
            <a:r>
              <a:rPr lang="en-US" sz="1600" b="1" dirty="0" err="1">
                <a:solidFill>
                  <a:schemeClr val="bg1"/>
                </a:solidFill>
                <a:latin typeface="+mn-lt"/>
              </a:rPr>
              <a:t>Viswanadham</a:t>
            </a:r>
            <a:r>
              <a:rPr lang="en-US" sz="1600" b="1" dirty="0">
                <a:solidFill>
                  <a:schemeClr val="bg1"/>
                </a:solidFill>
                <a:latin typeface="+mn-lt"/>
              </a:rPr>
              <a:t> Ravuri</a:t>
            </a:r>
            <a:r>
              <a:rPr lang="en-US" sz="1600" b="1" spc="-10" dirty="0">
                <a:solidFill>
                  <a:srgbClr val="FFFFFF"/>
                </a:solidFill>
                <a:latin typeface="Calibri"/>
                <a:cs typeface="Calibri"/>
              </a:rPr>
              <a:t>     Email Id: viswanadh.r@bvrithyderabad.edu.in </a:t>
            </a:r>
            <a:endParaRPr lang="en-US" sz="1600" dirty="0">
              <a:latin typeface="Calibri"/>
              <a:cs typeface="Calibri"/>
            </a:endParaRPr>
          </a:p>
        </p:txBody>
      </p:sp>
      <p:grpSp>
        <p:nvGrpSpPr>
          <p:cNvPr id="3" name="object 3"/>
          <p:cNvGrpSpPr/>
          <p:nvPr/>
        </p:nvGrpSpPr>
        <p:grpSpPr>
          <a:xfrm>
            <a:off x="1293108" y="1069613"/>
            <a:ext cx="9368030" cy="348206"/>
            <a:chOff x="1399032" y="1240847"/>
            <a:chExt cx="9250680" cy="582111"/>
          </a:xfrm>
        </p:grpSpPr>
        <p:sp>
          <p:nvSpPr>
            <p:cNvPr id="4" name="object 4"/>
            <p:cNvSpPr/>
            <p:nvPr/>
          </p:nvSpPr>
          <p:spPr>
            <a:xfrm>
              <a:off x="1399032" y="1275588"/>
              <a:ext cx="9250680" cy="547370"/>
            </a:xfrm>
            <a:custGeom>
              <a:avLst/>
              <a:gdLst/>
              <a:ahLst/>
              <a:cxnLst/>
              <a:rect l="l" t="t" r="r" b="b"/>
              <a:pathLst>
                <a:path w="9250680" h="547369">
                  <a:moveTo>
                    <a:pt x="9159494" y="0"/>
                  </a:moveTo>
                  <a:lnTo>
                    <a:pt x="91186" y="0"/>
                  </a:lnTo>
                  <a:lnTo>
                    <a:pt x="55667" y="7157"/>
                  </a:lnTo>
                  <a:lnTo>
                    <a:pt x="26685" y="26685"/>
                  </a:lnTo>
                  <a:lnTo>
                    <a:pt x="7157" y="55667"/>
                  </a:lnTo>
                  <a:lnTo>
                    <a:pt x="0" y="91186"/>
                  </a:lnTo>
                  <a:lnTo>
                    <a:pt x="0" y="455929"/>
                  </a:lnTo>
                  <a:lnTo>
                    <a:pt x="7157" y="491448"/>
                  </a:lnTo>
                  <a:lnTo>
                    <a:pt x="26685" y="520430"/>
                  </a:lnTo>
                  <a:lnTo>
                    <a:pt x="55667" y="539958"/>
                  </a:lnTo>
                  <a:lnTo>
                    <a:pt x="91186" y="547115"/>
                  </a:lnTo>
                  <a:lnTo>
                    <a:pt x="9159494" y="547115"/>
                  </a:lnTo>
                  <a:lnTo>
                    <a:pt x="9195012" y="539958"/>
                  </a:lnTo>
                  <a:lnTo>
                    <a:pt x="9223994" y="520430"/>
                  </a:lnTo>
                  <a:lnTo>
                    <a:pt x="9243522" y="491448"/>
                  </a:lnTo>
                  <a:lnTo>
                    <a:pt x="9250680" y="455929"/>
                  </a:lnTo>
                  <a:lnTo>
                    <a:pt x="9250680" y="91186"/>
                  </a:lnTo>
                  <a:lnTo>
                    <a:pt x="9243522" y="55667"/>
                  </a:lnTo>
                  <a:lnTo>
                    <a:pt x="9223994" y="26685"/>
                  </a:lnTo>
                  <a:lnTo>
                    <a:pt x="9195012" y="7157"/>
                  </a:lnTo>
                  <a:lnTo>
                    <a:pt x="9159494" y="0"/>
                  </a:lnTo>
                  <a:close/>
                </a:path>
              </a:pathLst>
            </a:custGeom>
            <a:solidFill>
              <a:srgbClr val="2E5395"/>
            </a:solidFill>
          </p:spPr>
          <p:txBody>
            <a:bodyPr wrap="square" lIns="0" tIns="0" rIns="0" bIns="0" rtlCol="0"/>
            <a:lstStyle/>
            <a:p>
              <a:endParaRPr dirty="0"/>
            </a:p>
          </p:txBody>
        </p:sp>
        <p:sp>
          <p:nvSpPr>
            <p:cNvPr id="5" name="object 5"/>
            <p:cNvSpPr/>
            <p:nvPr/>
          </p:nvSpPr>
          <p:spPr>
            <a:xfrm>
              <a:off x="1399032" y="1240847"/>
              <a:ext cx="9250680" cy="547369"/>
            </a:xfrm>
            <a:custGeom>
              <a:avLst/>
              <a:gdLst/>
              <a:ahLst/>
              <a:cxnLst/>
              <a:rect l="l" t="t" r="r" b="b"/>
              <a:pathLst>
                <a:path w="9250680" h="547369">
                  <a:moveTo>
                    <a:pt x="0" y="91186"/>
                  </a:moveTo>
                  <a:lnTo>
                    <a:pt x="7157" y="55667"/>
                  </a:lnTo>
                  <a:lnTo>
                    <a:pt x="26685" y="26685"/>
                  </a:lnTo>
                  <a:lnTo>
                    <a:pt x="55667" y="7157"/>
                  </a:lnTo>
                  <a:lnTo>
                    <a:pt x="91186" y="0"/>
                  </a:lnTo>
                  <a:lnTo>
                    <a:pt x="9159494" y="0"/>
                  </a:lnTo>
                  <a:lnTo>
                    <a:pt x="9195012" y="7157"/>
                  </a:lnTo>
                  <a:lnTo>
                    <a:pt x="9223994" y="26685"/>
                  </a:lnTo>
                  <a:lnTo>
                    <a:pt x="9243522" y="55667"/>
                  </a:lnTo>
                  <a:lnTo>
                    <a:pt x="9250680" y="91186"/>
                  </a:lnTo>
                  <a:lnTo>
                    <a:pt x="9250680" y="455929"/>
                  </a:lnTo>
                  <a:lnTo>
                    <a:pt x="9243522" y="491448"/>
                  </a:lnTo>
                  <a:lnTo>
                    <a:pt x="9223994" y="520430"/>
                  </a:lnTo>
                  <a:lnTo>
                    <a:pt x="9195012" y="539958"/>
                  </a:lnTo>
                  <a:lnTo>
                    <a:pt x="9159494" y="547115"/>
                  </a:lnTo>
                  <a:lnTo>
                    <a:pt x="91186" y="547115"/>
                  </a:lnTo>
                  <a:lnTo>
                    <a:pt x="55667" y="539958"/>
                  </a:lnTo>
                  <a:lnTo>
                    <a:pt x="26685" y="520430"/>
                  </a:lnTo>
                  <a:lnTo>
                    <a:pt x="7157" y="491448"/>
                  </a:lnTo>
                  <a:lnTo>
                    <a:pt x="0" y="455929"/>
                  </a:lnTo>
                  <a:lnTo>
                    <a:pt x="0" y="91186"/>
                  </a:lnTo>
                  <a:close/>
                </a:path>
              </a:pathLst>
            </a:custGeom>
            <a:ln w="12700">
              <a:solidFill>
                <a:srgbClr val="30528F"/>
              </a:solidFill>
            </a:ln>
          </p:spPr>
          <p:txBody>
            <a:bodyPr wrap="square" lIns="0" tIns="0" rIns="0" bIns="0" rtlCol="0"/>
            <a:lstStyle/>
            <a:p>
              <a:endParaRPr/>
            </a:p>
          </p:txBody>
        </p:sp>
      </p:grpSp>
      <p:sp>
        <p:nvSpPr>
          <p:cNvPr id="6" name="object 6"/>
          <p:cNvSpPr txBox="1"/>
          <p:nvPr/>
        </p:nvSpPr>
        <p:spPr>
          <a:xfrm>
            <a:off x="1504821" y="450215"/>
            <a:ext cx="8944610" cy="997585"/>
          </a:xfrm>
          <a:prstGeom prst="rect">
            <a:avLst/>
          </a:prstGeom>
        </p:spPr>
        <p:txBody>
          <a:bodyPr vert="horz" wrap="square" lIns="0" tIns="80645" rIns="0" bIns="0" rtlCol="0">
            <a:spAutoFit/>
          </a:bodyPr>
          <a:lstStyle/>
          <a:p>
            <a:pPr marL="657225" algn="ctr">
              <a:lnSpc>
                <a:spcPct val="100000"/>
              </a:lnSpc>
              <a:spcBef>
                <a:spcPts val="635"/>
              </a:spcBef>
            </a:pPr>
            <a:endParaRPr sz="3200" dirty="0">
              <a:latin typeface="Trebuchet MS"/>
              <a:cs typeface="Trebuchet MS"/>
            </a:endParaRPr>
          </a:p>
          <a:p>
            <a:pPr marL="12700" algn="ctr">
              <a:lnSpc>
                <a:spcPct val="100000"/>
              </a:lnSpc>
              <a:spcBef>
                <a:spcPts val="400"/>
              </a:spcBef>
            </a:pPr>
            <a:r>
              <a:rPr lang="en-US" sz="2400" dirty="0">
                <a:solidFill>
                  <a:schemeClr val="bg1"/>
                </a:solidFill>
              </a:rPr>
              <a:t>ULTRASONIC RADAR SYSTEM</a:t>
            </a:r>
            <a:endParaRPr lang="en-US" sz="2400" dirty="0">
              <a:solidFill>
                <a:schemeClr val="bg1"/>
              </a:solidFill>
              <a:latin typeface="Calibri"/>
              <a:cs typeface="Calibri"/>
            </a:endParaRPr>
          </a:p>
        </p:txBody>
      </p:sp>
      <p:sp>
        <p:nvSpPr>
          <p:cNvPr id="7" name="object 7"/>
          <p:cNvSpPr txBox="1"/>
          <p:nvPr/>
        </p:nvSpPr>
        <p:spPr>
          <a:xfrm>
            <a:off x="81976" y="1447800"/>
            <a:ext cx="4191378" cy="2394885"/>
          </a:xfrm>
          <a:prstGeom prst="rect">
            <a:avLst/>
          </a:prstGeom>
          <a:solidFill>
            <a:srgbClr val="ECECEC"/>
          </a:solidFill>
        </p:spPr>
        <p:txBody>
          <a:bodyPr vert="horz" wrap="square" lIns="0" tIns="32384" rIns="0" bIns="0" rtlCol="0">
            <a:spAutoFit/>
          </a:bodyPr>
          <a:lstStyle/>
          <a:p>
            <a:pPr marL="90805" algn="just">
              <a:lnSpc>
                <a:spcPct val="100000"/>
              </a:lnSpc>
              <a:spcBef>
                <a:spcPts val="254"/>
              </a:spcBef>
            </a:pPr>
            <a:r>
              <a:rPr sz="1350" b="1" spc="-10" dirty="0">
                <a:latin typeface="Calibri"/>
                <a:cs typeface="Calibri"/>
              </a:rPr>
              <a:t>ABSTRACT</a:t>
            </a:r>
            <a:endParaRPr sz="1350" dirty="0">
              <a:latin typeface="Calibri"/>
              <a:cs typeface="Calibri"/>
            </a:endParaRPr>
          </a:p>
          <a:p>
            <a:pPr marL="90000" marR="83185" algn="just">
              <a:lnSpc>
                <a:spcPct val="100000"/>
              </a:lnSpc>
            </a:pPr>
            <a:r>
              <a:rPr lang="en-US" sz="1400" dirty="0">
                <a:latin typeface="+mj-lt"/>
              </a:rPr>
              <a:t>The Ultrasonic Radar System utilizes ultrasonic sensors to detect and measure the distance of objects in real time by emitting high-frequency sound waves and analyzing their reflections. This cost-effective and portable solution offers a reliable alternative to LIDAR, enabling non-contact measurement for applications in robotics, automation, and surveillance. Integrating Arduino and processing software, the system provides accurate visualization and enhances </a:t>
            </a:r>
            <a:r>
              <a:rPr lang="en-US" sz="1400" dirty="0"/>
              <a:t>intelligent sensing technologies.</a:t>
            </a:r>
            <a:endParaRPr lang="en-US" sz="1400" dirty="0">
              <a:latin typeface="+mj-lt"/>
              <a:cs typeface="Calibri"/>
            </a:endParaRPr>
          </a:p>
        </p:txBody>
      </p:sp>
      <p:sp>
        <p:nvSpPr>
          <p:cNvPr id="8" name="object 8"/>
          <p:cNvSpPr txBox="1"/>
          <p:nvPr/>
        </p:nvSpPr>
        <p:spPr>
          <a:xfrm>
            <a:off x="87840" y="4638835"/>
            <a:ext cx="4179649" cy="1535036"/>
          </a:xfrm>
          <a:prstGeom prst="rect">
            <a:avLst/>
          </a:prstGeom>
          <a:solidFill>
            <a:srgbClr val="E7E6E6"/>
          </a:solidFill>
        </p:spPr>
        <p:txBody>
          <a:bodyPr vert="horz" wrap="square" lIns="0" tIns="34290" rIns="0" bIns="0" rtlCol="0">
            <a:spAutoFit/>
          </a:bodyPr>
          <a:lstStyle/>
          <a:p>
            <a:pPr marL="90805">
              <a:lnSpc>
                <a:spcPct val="100000"/>
              </a:lnSpc>
              <a:spcBef>
                <a:spcPts val="270"/>
              </a:spcBef>
            </a:pPr>
            <a:r>
              <a:rPr sz="1350" b="1" spc="-10" dirty="0">
                <a:latin typeface="Calibri"/>
                <a:cs typeface="Calibri"/>
              </a:rPr>
              <a:t>METHODOLOGY</a:t>
            </a:r>
            <a:endParaRPr lang="en-IN" sz="1350" b="1" spc="-10" dirty="0">
              <a:latin typeface="Calibri"/>
              <a:cs typeface="Calibri"/>
            </a:endParaRPr>
          </a:p>
          <a:p>
            <a:pPr marL="90805" marR="83820" algn="just">
              <a:lnSpc>
                <a:spcPct val="100000"/>
              </a:lnSpc>
            </a:pPr>
            <a:r>
              <a:rPr lang="en-US" sz="1400" dirty="0">
                <a:latin typeface="+mj-lt"/>
              </a:rPr>
              <a:t>Ultrasonic waves are emitted using a sensor and reflected signals from objects are captured to measure distance. Arduino processes the data and visualizes it on a radar-like interface using Processing software.</a:t>
            </a:r>
            <a:r>
              <a:rPr lang="en-US" sz="1400" dirty="0"/>
              <a:t> </a:t>
            </a:r>
            <a:r>
              <a:rPr lang="en-US" sz="1400" dirty="0">
                <a:solidFill>
                  <a:schemeClr val="tx1"/>
                </a:solidFill>
                <a:latin typeface="+mj-lt"/>
              </a:rPr>
              <a:t>Real-time object detection using ultrasonic waves and Arduino.</a:t>
            </a:r>
            <a:endParaRPr lang="en-US" sz="1350" dirty="0">
              <a:solidFill>
                <a:schemeClr val="tx1"/>
              </a:solidFill>
              <a:latin typeface="+mj-lt"/>
              <a:cs typeface="Calibri"/>
            </a:endParaRPr>
          </a:p>
        </p:txBody>
      </p:sp>
      <p:sp>
        <p:nvSpPr>
          <p:cNvPr id="9" name="object 9"/>
          <p:cNvSpPr txBox="1"/>
          <p:nvPr/>
        </p:nvSpPr>
        <p:spPr>
          <a:xfrm>
            <a:off x="67945" y="3594195"/>
            <a:ext cx="4191379" cy="1012970"/>
          </a:xfrm>
          <a:prstGeom prst="rect">
            <a:avLst/>
          </a:prstGeom>
          <a:solidFill>
            <a:srgbClr val="E7E6E6"/>
          </a:solidFill>
        </p:spPr>
        <p:txBody>
          <a:bodyPr vert="horz" wrap="square" lIns="0" tIns="33020" rIns="0" bIns="0" rtlCol="0">
            <a:spAutoFit/>
          </a:bodyPr>
          <a:lstStyle/>
          <a:p>
            <a:pPr marL="91440" algn="just">
              <a:lnSpc>
                <a:spcPct val="150000"/>
              </a:lnSpc>
              <a:spcBef>
                <a:spcPts val="260"/>
              </a:spcBef>
            </a:pPr>
            <a:r>
              <a:rPr lang="en-IN" sz="1350" b="1" spc="-10" dirty="0">
                <a:latin typeface="Calibri"/>
                <a:cs typeface="Calibri"/>
              </a:rPr>
              <a:t>UNIQUENESS</a:t>
            </a:r>
          </a:p>
          <a:p>
            <a:pPr marL="91440" algn="just">
              <a:lnSpc>
                <a:spcPct val="150000"/>
              </a:lnSpc>
              <a:spcBef>
                <a:spcPts val="260"/>
              </a:spcBef>
            </a:pPr>
            <a:endParaRPr lang="en-IN" sz="1350" b="1" spc="-10" dirty="0">
              <a:latin typeface="Calibri"/>
              <a:cs typeface="Calibri"/>
            </a:endParaRPr>
          </a:p>
          <a:p>
            <a:pPr marL="91440" algn="just">
              <a:lnSpc>
                <a:spcPct val="150000"/>
              </a:lnSpc>
              <a:spcBef>
                <a:spcPts val="260"/>
              </a:spcBef>
            </a:pPr>
            <a:endParaRPr lang="en-IN" sz="1350" b="1" spc="-10" dirty="0">
              <a:latin typeface="Calibri"/>
              <a:cs typeface="Calibri"/>
            </a:endParaRPr>
          </a:p>
        </p:txBody>
      </p:sp>
      <p:sp>
        <p:nvSpPr>
          <p:cNvPr id="10" name="object 10"/>
          <p:cNvSpPr/>
          <p:nvPr/>
        </p:nvSpPr>
        <p:spPr>
          <a:xfrm>
            <a:off x="7745265" y="4920950"/>
            <a:ext cx="4390346" cy="1252921"/>
          </a:xfrm>
          <a:custGeom>
            <a:avLst/>
            <a:gdLst/>
            <a:ahLst/>
            <a:cxnLst/>
            <a:rect l="l" t="t" r="r" b="b"/>
            <a:pathLst>
              <a:path w="4372609" h="2062479">
                <a:moveTo>
                  <a:pt x="4372356" y="0"/>
                </a:moveTo>
                <a:lnTo>
                  <a:pt x="0" y="0"/>
                </a:lnTo>
                <a:lnTo>
                  <a:pt x="0" y="2061972"/>
                </a:lnTo>
                <a:lnTo>
                  <a:pt x="4372356" y="2061972"/>
                </a:lnTo>
                <a:lnTo>
                  <a:pt x="4372356" y="0"/>
                </a:lnTo>
                <a:close/>
              </a:path>
            </a:pathLst>
          </a:custGeom>
          <a:solidFill>
            <a:srgbClr val="E7E6E6"/>
          </a:solidFill>
        </p:spPr>
        <p:txBody>
          <a:bodyPr wrap="square" lIns="0" tIns="0" rIns="0" bIns="0" rtlCol="0"/>
          <a:lstStyle/>
          <a:p>
            <a:endParaRPr/>
          </a:p>
        </p:txBody>
      </p:sp>
      <p:sp>
        <p:nvSpPr>
          <p:cNvPr id="11" name="object 11"/>
          <p:cNvSpPr txBox="1"/>
          <p:nvPr/>
        </p:nvSpPr>
        <p:spPr>
          <a:xfrm>
            <a:off x="7766431" y="4942372"/>
            <a:ext cx="4369180" cy="1245854"/>
          </a:xfrm>
          <a:prstGeom prst="rect">
            <a:avLst/>
          </a:prstGeom>
        </p:spPr>
        <p:txBody>
          <a:bodyPr vert="horz" wrap="square" lIns="0" tIns="12065" rIns="0" bIns="0" rtlCol="0">
            <a:spAutoFit/>
          </a:bodyPr>
          <a:lstStyle/>
          <a:p>
            <a:pPr marL="91440">
              <a:lnSpc>
                <a:spcPct val="100000"/>
              </a:lnSpc>
              <a:spcBef>
                <a:spcPts val="95"/>
              </a:spcBef>
            </a:pPr>
            <a:r>
              <a:rPr lang="en-IN" sz="1350" b="1" spc="-10" dirty="0">
                <a:latin typeface="Calibri"/>
                <a:cs typeface="Calibri"/>
              </a:rPr>
              <a:t>REFERENCES</a:t>
            </a:r>
          </a:p>
          <a:p>
            <a:pPr marL="91440" algn="just">
              <a:lnSpc>
                <a:spcPct val="100000"/>
              </a:lnSpc>
              <a:spcBef>
                <a:spcPts val="95"/>
              </a:spcBef>
              <a:spcAft>
                <a:spcPts val="600"/>
              </a:spcAft>
            </a:pPr>
            <a:r>
              <a:rPr lang="en-US" sz="1000" dirty="0"/>
              <a:t>L. Zhang, "Cost-Effective Ultrasonic Radar Systems for Robotics Applications," Robotics and Automation Journal, vol. 10, no. 1, pp. 58-64, Jan. 2022.</a:t>
            </a:r>
          </a:p>
          <a:p>
            <a:pPr marL="91440" algn="just">
              <a:lnSpc>
                <a:spcPct val="100000"/>
              </a:lnSpc>
              <a:spcBef>
                <a:spcPts val="95"/>
              </a:spcBef>
              <a:spcAft>
                <a:spcPts val="600"/>
              </a:spcAft>
            </a:pPr>
            <a:r>
              <a:rPr lang="en-US" sz="1000" dirty="0"/>
              <a:t>T. Rao, "Machine Learning for Object Classification in Ultrasonic Radar Systems," Journal of Artificial Intelligence and Robotics, vol. 13, no. 7, pp. 97-103, Jul. 20</a:t>
            </a:r>
            <a:endParaRPr lang="en-IN" sz="1000" b="1" spc="-10" dirty="0">
              <a:latin typeface="Calibri"/>
              <a:cs typeface="Calibri"/>
            </a:endParaRPr>
          </a:p>
        </p:txBody>
      </p:sp>
      <p:pic>
        <p:nvPicPr>
          <p:cNvPr id="14" name="object 14"/>
          <p:cNvPicPr/>
          <p:nvPr/>
        </p:nvPicPr>
        <p:blipFill>
          <a:blip r:embed="rId3" cstate="print"/>
          <a:stretch>
            <a:fillRect/>
          </a:stretch>
        </p:blipFill>
        <p:spPr>
          <a:xfrm>
            <a:off x="10778361" y="59436"/>
            <a:ext cx="1357250" cy="1323589"/>
          </a:xfrm>
          <a:prstGeom prst="rect">
            <a:avLst/>
          </a:prstGeom>
        </p:spPr>
      </p:pic>
      <p:sp>
        <p:nvSpPr>
          <p:cNvPr id="19" name="object 19"/>
          <p:cNvSpPr txBox="1"/>
          <p:nvPr/>
        </p:nvSpPr>
        <p:spPr>
          <a:xfrm>
            <a:off x="1410331" y="55855"/>
            <a:ext cx="9562468" cy="566822"/>
          </a:xfrm>
          <a:prstGeom prst="rect">
            <a:avLst/>
          </a:prstGeom>
        </p:spPr>
        <p:txBody>
          <a:bodyPr vert="horz" wrap="square" lIns="0" tIns="12700" rIns="0" bIns="0" rtlCol="0">
            <a:spAutoFit/>
          </a:bodyPr>
          <a:lstStyle/>
          <a:p>
            <a:pPr algn="ctr">
              <a:spcBef>
                <a:spcPts val="100"/>
              </a:spcBef>
            </a:pPr>
            <a:r>
              <a:rPr sz="2400" b="1" dirty="0">
                <a:solidFill>
                  <a:srgbClr val="0049AC"/>
                </a:solidFill>
                <a:latin typeface="Arial"/>
                <a:cs typeface="Arial"/>
              </a:rPr>
              <a:t>BVRIT</a:t>
            </a:r>
            <a:r>
              <a:rPr sz="2400" b="1" spc="-70" dirty="0">
                <a:solidFill>
                  <a:srgbClr val="0049AC"/>
                </a:solidFill>
                <a:latin typeface="Arial"/>
                <a:cs typeface="Arial"/>
              </a:rPr>
              <a:t> </a:t>
            </a:r>
            <a:r>
              <a:rPr sz="2400" b="1" spc="-10" dirty="0">
                <a:solidFill>
                  <a:srgbClr val="0049AC"/>
                </a:solidFill>
                <a:latin typeface="Arial"/>
                <a:cs typeface="Arial"/>
              </a:rPr>
              <a:t>HYDERABAD</a:t>
            </a:r>
            <a:r>
              <a:rPr lang="en-IN" sz="2400" b="1" spc="-10" dirty="0">
                <a:latin typeface="Arial"/>
                <a:cs typeface="Arial"/>
              </a:rPr>
              <a:t> </a:t>
            </a:r>
            <a:r>
              <a:rPr lang="en-US" sz="2400" b="1" spc="-10" dirty="0">
                <a:solidFill>
                  <a:srgbClr val="0049AC"/>
                </a:solidFill>
                <a:latin typeface="Arial"/>
                <a:cs typeface="Arial"/>
              </a:rPr>
              <a:t>College of Engineering for Women</a:t>
            </a:r>
          </a:p>
          <a:p>
            <a:pPr algn="ctr"/>
            <a:r>
              <a:rPr lang="en-IN" sz="1200" b="1" dirty="0">
                <a:solidFill>
                  <a:srgbClr val="0049AC"/>
                </a:solidFill>
                <a:latin typeface="Arial MT"/>
                <a:cs typeface="Arial MT"/>
              </a:rPr>
              <a:t>(UGC Autonomous)</a:t>
            </a:r>
          </a:p>
        </p:txBody>
      </p:sp>
      <p:sp>
        <p:nvSpPr>
          <p:cNvPr id="30" name="TextBox 29">
            <a:extLst>
              <a:ext uri="{FF2B5EF4-FFF2-40B4-BE49-F238E27FC236}">
                <a16:creationId xmlns:a16="http://schemas.microsoft.com/office/drawing/2014/main" id="{F8155E00-629E-D936-0D83-358A7A98019F}"/>
              </a:ext>
            </a:extLst>
          </p:cNvPr>
          <p:cNvSpPr txBox="1"/>
          <p:nvPr/>
        </p:nvSpPr>
        <p:spPr>
          <a:xfrm>
            <a:off x="4960641" y="3138954"/>
            <a:ext cx="2032963" cy="307777"/>
          </a:xfrm>
          <a:prstGeom prst="rect">
            <a:avLst/>
          </a:prstGeom>
          <a:noFill/>
        </p:spPr>
        <p:txBody>
          <a:bodyPr wrap="square">
            <a:spAutoFit/>
          </a:bodyPr>
          <a:lstStyle/>
          <a:p>
            <a:pPr algn="ctr"/>
            <a:r>
              <a:rPr lang="en-US" sz="1400" b="1" dirty="0">
                <a:ln w="0"/>
                <a:solidFill>
                  <a:schemeClr val="tx1"/>
                </a:solidFill>
                <a:effectLst>
                  <a:outerShdw blurRad="38100" dist="19050" dir="2700000" algn="tl" rotWithShape="0">
                    <a:schemeClr val="dk1">
                      <a:alpha val="40000"/>
                    </a:schemeClr>
                  </a:outerShdw>
                </a:effectLst>
                <a:latin typeface="+mj-lt"/>
              </a:rPr>
              <a:t>Results &amp; Analysis</a:t>
            </a:r>
            <a:endParaRPr lang="en-US" sz="1400" b="1" cap="none" spc="0" dirty="0">
              <a:ln w="0"/>
              <a:solidFill>
                <a:schemeClr val="tx1"/>
              </a:solidFill>
              <a:effectLst>
                <a:outerShdw blurRad="38100" dist="19050" dir="2700000" algn="tl" rotWithShape="0">
                  <a:schemeClr val="dk1">
                    <a:alpha val="40000"/>
                  </a:schemeClr>
                </a:outerShdw>
              </a:effectLst>
              <a:latin typeface="+mj-lt"/>
            </a:endParaRPr>
          </a:p>
        </p:txBody>
      </p:sp>
      <p:sp>
        <p:nvSpPr>
          <p:cNvPr id="15" name="object 9">
            <a:extLst>
              <a:ext uri="{FF2B5EF4-FFF2-40B4-BE49-F238E27FC236}">
                <a16:creationId xmlns:a16="http://schemas.microsoft.com/office/drawing/2014/main" id="{F896B6E3-7AD4-8AFF-113D-0911B8F1E278}"/>
              </a:ext>
            </a:extLst>
          </p:cNvPr>
          <p:cNvSpPr txBox="1"/>
          <p:nvPr/>
        </p:nvSpPr>
        <p:spPr>
          <a:xfrm>
            <a:off x="7766431" y="3336128"/>
            <a:ext cx="4357624" cy="1526059"/>
          </a:xfrm>
          <a:prstGeom prst="rect">
            <a:avLst/>
          </a:prstGeom>
          <a:solidFill>
            <a:srgbClr val="E7E6E6"/>
          </a:solidFill>
        </p:spPr>
        <p:txBody>
          <a:bodyPr vert="horz" wrap="square" lIns="0" tIns="33020" rIns="0" bIns="0" rtlCol="0">
            <a:spAutoFit/>
          </a:bodyPr>
          <a:lstStyle/>
          <a:p>
            <a:pPr marL="91440" algn="just">
              <a:spcBef>
                <a:spcPts val="260"/>
              </a:spcBef>
            </a:pPr>
            <a:r>
              <a:rPr lang="en-IN" sz="1350" b="1" spc="-10" dirty="0">
                <a:latin typeface="Calibri"/>
                <a:cs typeface="Calibri"/>
              </a:rPr>
              <a:t>CONCLUSION</a:t>
            </a:r>
          </a:p>
          <a:p>
            <a:pPr marL="91440" algn="just">
              <a:spcBef>
                <a:spcPts val="260"/>
              </a:spcBef>
            </a:pPr>
            <a:r>
              <a:rPr lang="en-IN" sz="1350" spc="-10" dirty="0">
                <a:latin typeface="Calibri"/>
                <a:cs typeface="Calibri"/>
              </a:rPr>
              <a:t>In Conclusion, the project successfully achieved its objectives by implementing effective techniques and demonstrating significant results. The approach proved to be efficient and reliable, highlighting its practical applicability. Future work can focus on further optimization and exploring advanced methodologies to </a:t>
            </a:r>
            <a:r>
              <a:rPr lang="en-IN" sz="1350" spc="-10">
                <a:latin typeface="Calibri"/>
                <a:cs typeface="Calibri"/>
              </a:rPr>
              <a:t>enhance performance.</a:t>
            </a:r>
            <a:endParaRPr lang="en-IN" sz="1350" spc="-10" dirty="0">
              <a:latin typeface="Calibri"/>
              <a:cs typeface="Calibri"/>
            </a:endParaRPr>
          </a:p>
        </p:txBody>
      </p:sp>
      <p:graphicFrame>
        <p:nvGraphicFramePr>
          <p:cNvPr id="17" name="Table 16">
            <a:extLst>
              <a:ext uri="{FF2B5EF4-FFF2-40B4-BE49-F238E27FC236}">
                <a16:creationId xmlns:a16="http://schemas.microsoft.com/office/drawing/2014/main" id="{05604386-4D1B-590B-2FD8-A813D26A92F9}"/>
              </a:ext>
            </a:extLst>
          </p:cNvPr>
          <p:cNvGraphicFramePr>
            <a:graphicFrameLocks noGrp="1"/>
          </p:cNvGraphicFramePr>
          <p:nvPr>
            <p:extLst>
              <p:ext uri="{D42A27DB-BD31-4B8C-83A1-F6EECF244321}">
                <p14:modId xmlns:p14="http://schemas.microsoft.com/office/powerpoint/2010/main" val="1794095739"/>
              </p:ext>
            </p:extLst>
          </p:nvPr>
        </p:nvGraphicFramePr>
        <p:xfrm>
          <a:off x="33691" y="3937602"/>
          <a:ext cx="6248400" cy="60960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1018455846"/>
                    </a:ext>
                  </a:extLst>
                </a:gridCol>
                <a:gridCol w="4038600">
                  <a:extLst>
                    <a:ext uri="{9D8B030D-6E8A-4147-A177-3AD203B41FA5}">
                      <a16:colId xmlns:a16="http://schemas.microsoft.com/office/drawing/2014/main" val="1565286044"/>
                    </a:ext>
                  </a:extLst>
                </a:gridCol>
              </a:tblGrid>
              <a:tr h="140777">
                <a:tc>
                  <a:txBody>
                    <a:bodyPr/>
                    <a:lstStyle/>
                    <a:p>
                      <a:pPr marL="285750" indent="-285750">
                        <a:buFont typeface="Arial" panose="020B0604020202020204" pitchFamily="34" charset="0"/>
                        <a:buChar char="•"/>
                      </a:pPr>
                      <a:r>
                        <a:rPr lang="en-US" sz="1400" b="0" dirty="0">
                          <a:solidFill>
                            <a:schemeClr val="tx1"/>
                          </a:solidFill>
                        </a:rPr>
                        <a:t>Low-cost alternative</a:t>
                      </a:r>
                      <a:endParaRPr lang="en-IN" sz="1400"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US" sz="1400" b="0" dirty="0">
                          <a:solidFill>
                            <a:schemeClr val="tx1"/>
                          </a:solidFill>
                        </a:rPr>
                        <a:t>Portable &amp; real-time</a:t>
                      </a:r>
                      <a:endParaRPr lang="en-IN" sz="1400" b="0"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64656120"/>
                  </a:ext>
                </a:extLst>
              </a:tr>
              <a:tr h="220255">
                <a:tc>
                  <a:txBody>
                    <a:bodyPr/>
                    <a:lstStyle/>
                    <a:p>
                      <a:pPr marL="285750" indent="-285750">
                        <a:buFont typeface="Arial" panose="020B0604020202020204" pitchFamily="34" charset="0"/>
                        <a:buChar char="•"/>
                      </a:pPr>
                      <a:r>
                        <a:rPr lang="en-US" sz="1400" dirty="0"/>
                        <a:t>Contactless sensing</a:t>
                      </a:r>
                      <a:endParaRPr lang="en-IN"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285750" indent="-285750">
                        <a:buFont typeface="Arial" panose="020B0604020202020204" pitchFamily="34" charset="0"/>
                        <a:buChar char="•"/>
                      </a:pPr>
                      <a:r>
                        <a:rPr lang="en-US" sz="1400" dirty="0"/>
                        <a:t>Arduino integration</a:t>
                      </a:r>
                      <a:endParaRPr lang="en-IN" sz="1400"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59474167"/>
                  </a:ext>
                </a:extLst>
              </a:tr>
            </a:tbl>
          </a:graphicData>
        </a:graphic>
      </p:graphicFrame>
      <p:sp>
        <p:nvSpPr>
          <p:cNvPr id="21" name="object 9">
            <a:extLst>
              <a:ext uri="{FF2B5EF4-FFF2-40B4-BE49-F238E27FC236}">
                <a16:creationId xmlns:a16="http://schemas.microsoft.com/office/drawing/2014/main" id="{2071B741-C480-6826-D68C-F8F9DC07F36A}"/>
              </a:ext>
            </a:extLst>
          </p:cNvPr>
          <p:cNvSpPr txBox="1"/>
          <p:nvPr/>
        </p:nvSpPr>
        <p:spPr>
          <a:xfrm>
            <a:off x="7769780" y="1472748"/>
            <a:ext cx="4297456" cy="1787669"/>
          </a:xfrm>
          <a:prstGeom prst="rect">
            <a:avLst/>
          </a:prstGeom>
          <a:solidFill>
            <a:srgbClr val="E7E6E6"/>
          </a:solidFill>
        </p:spPr>
        <p:txBody>
          <a:bodyPr vert="horz" wrap="square" lIns="0" tIns="33020" rIns="0" bIns="0" rtlCol="0">
            <a:spAutoFit/>
          </a:bodyPr>
          <a:lstStyle/>
          <a:p>
            <a:pPr marL="91440" algn="just">
              <a:spcBef>
                <a:spcPts val="260"/>
              </a:spcBef>
            </a:pPr>
            <a:r>
              <a:rPr lang="en-IN" sz="1350" b="1" spc="-10" dirty="0">
                <a:latin typeface="Calibri"/>
                <a:cs typeface="Calibri"/>
              </a:rPr>
              <a:t>SOCIETAL USE</a:t>
            </a:r>
            <a:endParaRPr lang="en-IN" sz="1350" spc="-10" dirty="0">
              <a:latin typeface="Calibri"/>
              <a:cs typeface="Calibri"/>
            </a:endParaRPr>
          </a:p>
          <a:p>
            <a:pPr marL="91440" algn="just">
              <a:spcBef>
                <a:spcPts val="260"/>
              </a:spcBef>
            </a:pPr>
            <a:r>
              <a:rPr lang="en-US" sz="1400" dirty="0">
                <a:latin typeface="+mj-lt"/>
              </a:rPr>
              <a:t>The Ultrasonic Radar System can enhance safety in automation, robotics, and transportation by enabling accurate object detection and collision avoidance. It supports smart navigation for visually impaired individuals and improves surveillance in public spaces. Its low-cost design makes advanced sensing accessible for educational and community applications.</a:t>
            </a:r>
            <a:endParaRPr lang="en-IN" sz="1350" spc="-10" dirty="0">
              <a:latin typeface="+mj-lt"/>
              <a:cs typeface="Calibri"/>
            </a:endParaRPr>
          </a:p>
        </p:txBody>
      </p:sp>
      <p:sp>
        <p:nvSpPr>
          <p:cNvPr id="27" name="TextBox 26">
            <a:extLst>
              <a:ext uri="{FF2B5EF4-FFF2-40B4-BE49-F238E27FC236}">
                <a16:creationId xmlns:a16="http://schemas.microsoft.com/office/drawing/2014/main" id="{1F6DB7DF-FB9F-F80C-8B3B-0C67B60D9FF1}"/>
              </a:ext>
            </a:extLst>
          </p:cNvPr>
          <p:cNvSpPr txBox="1"/>
          <p:nvPr/>
        </p:nvSpPr>
        <p:spPr>
          <a:xfrm>
            <a:off x="4034191" y="647085"/>
            <a:ext cx="4495800" cy="400110"/>
          </a:xfrm>
          <a:prstGeom prst="rect">
            <a:avLst/>
          </a:prstGeom>
          <a:noFill/>
        </p:spPr>
        <p:txBody>
          <a:bodyPr wrap="square" rtlCol="0">
            <a:spAutoFit/>
          </a:bodyPr>
          <a:lstStyle/>
          <a:p>
            <a:pPr algn="ctr"/>
            <a:r>
              <a:rPr lang="en-IN" sz="2000" b="1" dirty="0">
                <a:solidFill>
                  <a:srgbClr val="FF0000"/>
                </a:solidFill>
                <a:latin typeface="Bahnschrift" panose="020B0502040204020203" pitchFamily="34" charset="0"/>
              </a:rPr>
              <a:t>R&amp;D </a:t>
            </a:r>
            <a:r>
              <a:rPr lang="en-IN" sz="2000" b="1">
                <a:solidFill>
                  <a:srgbClr val="FF0000"/>
                </a:solidFill>
                <a:latin typeface="Bahnschrift" panose="020B0502040204020203" pitchFamily="34" charset="0"/>
              </a:rPr>
              <a:t>SHOWCASE 2025</a:t>
            </a:r>
            <a:endParaRPr lang="en-IN" sz="2000" b="1" dirty="0">
              <a:solidFill>
                <a:srgbClr val="FF0000"/>
              </a:solidFill>
              <a:latin typeface="Bahnschrift" panose="020B0502040204020203" pitchFamily="34" charset="0"/>
            </a:endParaRPr>
          </a:p>
        </p:txBody>
      </p:sp>
      <p:pic>
        <p:nvPicPr>
          <p:cNvPr id="18" name="Picture 17">
            <a:extLst>
              <a:ext uri="{FF2B5EF4-FFF2-40B4-BE49-F238E27FC236}">
                <a16:creationId xmlns:a16="http://schemas.microsoft.com/office/drawing/2014/main" id="{9017A586-43A4-03C6-DB1C-1F6781A6D9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2418" y="95974"/>
            <a:ext cx="818983" cy="1192554"/>
          </a:xfrm>
          <a:prstGeom prst="rect">
            <a:avLst/>
          </a:prstGeom>
        </p:spPr>
      </p:pic>
      <p:sp>
        <p:nvSpPr>
          <p:cNvPr id="13" name="TextBox 12">
            <a:extLst>
              <a:ext uri="{FF2B5EF4-FFF2-40B4-BE49-F238E27FC236}">
                <a16:creationId xmlns:a16="http://schemas.microsoft.com/office/drawing/2014/main" id="{491E0260-CDCD-CC6F-0E79-0A4D650DAF07}"/>
              </a:ext>
            </a:extLst>
          </p:cNvPr>
          <p:cNvSpPr txBox="1"/>
          <p:nvPr/>
        </p:nvSpPr>
        <p:spPr>
          <a:xfrm>
            <a:off x="533400" y="6349082"/>
            <a:ext cx="1295400" cy="400110"/>
          </a:xfrm>
          <a:prstGeom prst="rect">
            <a:avLst/>
          </a:prstGeom>
          <a:noFill/>
        </p:spPr>
        <p:txBody>
          <a:bodyPr wrap="square" rtlCol="0">
            <a:spAutoFit/>
          </a:bodyPr>
          <a:lstStyle/>
          <a:p>
            <a:r>
              <a:rPr lang="en-US" sz="2000" b="1">
                <a:solidFill>
                  <a:schemeClr val="bg1"/>
                </a:solidFill>
              </a:rPr>
              <a:t>SDG - 9</a:t>
            </a:r>
            <a:endParaRPr lang="en-IN" sz="2000" b="1" dirty="0">
              <a:solidFill>
                <a:schemeClr val="bg1"/>
              </a:solidFill>
            </a:endParaRPr>
          </a:p>
        </p:txBody>
      </p:sp>
      <p:pic>
        <p:nvPicPr>
          <p:cNvPr id="34" name="Picture 33" descr="A diagram of a machine&#10;&#10;AI-generated content may be incorrect.">
            <a:extLst>
              <a:ext uri="{FF2B5EF4-FFF2-40B4-BE49-F238E27FC236}">
                <a16:creationId xmlns:a16="http://schemas.microsoft.com/office/drawing/2014/main" id="{AA644853-B8D0-CFD5-C782-C2DC69119B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2222" y="1714768"/>
            <a:ext cx="3045378" cy="1389422"/>
          </a:xfrm>
          <a:prstGeom prst="rect">
            <a:avLst/>
          </a:prstGeom>
        </p:spPr>
      </p:pic>
      <p:sp>
        <p:nvSpPr>
          <p:cNvPr id="35" name="TextBox 34">
            <a:extLst>
              <a:ext uri="{FF2B5EF4-FFF2-40B4-BE49-F238E27FC236}">
                <a16:creationId xmlns:a16="http://schemas.microsoft.com/office/drawing/2014/main" id="{483021BD-790B-BAB4-CEA5-BAEEFAC36AFB}"/>
              </a:ext>
            </a:extLst>
          </p:cNvPr>
          <p:cNvSpPr txBox="1"/>
          <p:nvPr/>
        </p:nvSpPr>
        <p:spPr>
          <a:xfrm>
            <a:off x="4838699" y="1443974"/>
            <a:ext cx="2109164" cy="307777"/>
          </a:xfrm>
          <a:prstGeom prst="rect">
            <a:avLst/>
          </a:prstGeom>
          <a:noFill/>
        </p:spPr>
        <p:txBody>
          <a:bodyPr wrap="square" rtlCol="0">
            <a:spAutoFit/>
          </a:bodyPr>
          <a:lstStyle/>
          <a:p>
            <a:pPr algn="ctr"/>
            <a:r>
              <a:rPr lang="en-US" sz="1400" b="1" dirty="0">
                <a:latin typeface="+mj-lt"/>
              </a:rPr>
              <a:t>Block Diagram</a:t>
            </a:r>
          </a:p>
        </p:txBody>
      </p:sp>
      <p:pic>
        <p:nvPicPr>
          <p:cNvPr id="37" name="Picture 36" descr="A screen shot of a computer&#10;&#10;AI-generated content may be incorrect.">
            <a:extLst>
              <a:ext uri="{FF2B5EF4-FFF2-40B4-BE49-F238E27FC236}">
                <a16:creationId xmlns:a16="http://schemas.microsoft.com/office/drawing/2014/main" id="{FC6CA119-96D7-6E3A-EAB3-7E10D344EC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30633" y="3435741"/>
            <a:ext cx="2892978" cy="1249025"/>
          </a:xfrm>
          <a:prstGeom prst="rect">
            <a:avLst/>
          </a:prstGeom>
        </p:spPr>
      </p:pic>
      <p:pic>
        <p:nvPicPr>
          <p:cNvPr id="39" name="Picture 38" descr="A computer on a table&#10;&#10;AI-generated content may be incorrect.">
            <a:extLst>
              <a:ext uri="{FF2B5EF4-FFF2-40B4-BE49-F238E27FC236}">
                <a16:creationId xmlns:a16="http://schemas.microsoft.com/office/drawing/2014/main" id="{CB24BC04-1542-74DF-77ED-3997494D421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30632" y="4713285"/>
            <a:ext cx="2892979" cy="152538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756</TotalTime>
  <Words>368</Words>
  <Application>Microsoft Office PowerPoint</Application>
  <PresentationFormat>Widescreen</PresentationFormat>
  <Paragraphs>27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MT</vt:lpstr>
      <vt:lpstr>Bahnschrift</vt:lpstr>
      <vt:lpstr>Calibri</vt:lpstr>
      <vt:lpstr>Trebuchet MS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kayal</dc:creator>
  <cp:lastModifiedBy>leela vanitha</cp:lastModifiedBy>
  <cp:revision>44</cp:revision>
  <cp:lastPrinted>2025-06-06T08:50:11Z</cp:lastPrinted>
  <dcterms:created xsi:type="dcterms:W3CDTF">2023-12-16T09:07:55Z</dcterms:created>
  <dcterms:modified xsi:type="dcterms:W3CDTF">2025-06-06T08:51:16Z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2023-05-05T00:00:00Z</vt:filetime>
  </property>
  <property fmtid="{D5CDD505-2E9C-101B-9397-08002B2CF9AE}" pid="3" name="Creator">
    <vt:lpwstr>Microsoft® PowerPoint® 2019</vt:lpwstr>
  </property>
  <property fmtid="{D5CDD505-2E9C-101B-9397-08002B2CF9AE}" pid="4" name="LastSaved">
    <vt:filetime>2023-12-16T00:00:00Z</vt:filetime>
  </property>
  <property fmtid="{D5CDD505-2E9C-101B-9397-08002B2CF9AE}" pid="5" name="Producer">
    <vt:lpwstr>Microsoft® PowerPoint® 2019</vt:lpwstr>
  </property>
</Properties>
</file>